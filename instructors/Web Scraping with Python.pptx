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270" r:id="rId4"/>
    <p:sldId id="262" r:id="rId5"/>
    <p:sldId id="263" r:id="rId6"/>
    <p:sldId id="265" r:id="rId7"/>
    <p:sldId id="268" r:id="rId8"/>
    <p:sldId id="257" r:id="rId9"/>
    <p:sldId id="266" r:id="rId10"/>
    <p:sldId id="267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E9EEAA-CF00-46E7-93EB-DB0DCD9C8A53}" v="36" dt="2026-01-22T17:38:27.6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uise Brown (Advanced Research Computing)" userId="1a26bf97-cc65-4962-b1c9-f482974b10b6" providerId="ADAL" clId="{31240669-A139-4487-A095-57964DDBD73A}"/>
    <pc:docChg chg="undo redo custSel addSld delSld modSld">
      <pc:chgData name="Louise Brown (Advanced Research Computing)" userId="1a26bf97-cc65-4962-b1c9-f482974b10b6" providerId="ADAL" clId="{31240669-A139-4487-A095-57964DDBD73A}" dt="2026-01-22T17:38:27.628" v="792"/>
      <pc:docMkLst>
        <pc:docMk/>
      </pc:docMkLst>
      <pc:sldChg chg="del">
        <pc:chgData name="Louise Brown (Advanced Research Computing)" userId="1a26bf97-cc65-4962-b1c9-f482974b10b6" providerId="ADAL" clId="{31240669-A139-4487-A095-57964DDBD73A}" dt="2026-01-22T10:48:18.922" v="204" actId="47"/>
        <pc:sldMkLst>
          <pc:docMk/>
          <pc:sldMk cId="1769585570" sldId="256"/>
        </pc:sldMkLst>
      </pc:sldChg>
      <pc:sldChg chg="new del">
        <pc:chgData name="Louise Brown (Advanced Research Computing)" userId="1a26bf97-cc65-4962-b1c9-f482974b10b6" providerId="ADAL" clId="{31240669-A139-4487-A095-57964DDBD73A}" dt="2026-01-22T10:47:35.791" v="190" actId="47"/>
        <pc:sldMkLst>
          <pc:docMk/>
          <pc:sldMk cId="2812364640" sldId="257"/>
        </pc:sldMkLst>
      </pc:sldChg>
      <pc:sldChg chg="addSp modSp new mod">
        <pc:chgData name="Louise Brown (Advanced Research Computing)" userId="1a26bf97-cc65-4962-b1c9-f482974b10b6" providerId="ADAL" clId="{31240669-A139-4487-A095-57964DDBD73A}" dt="2026-01-22T10:48:51.219" v="207" actId="1076"/>
        <pc:sldMkLst>
          <pc:docMk/>
          <pc:sldMk cId="2280401822" sldId="258"/>
        </pc:sldMkLst>
        <pc:spChg chg="mod">
          <ac:chgData name="Louise Brown (Advanced Research Computing)" userId="1a26bf97-cc65-4962-b1c9-f482974b10b6" providerId="ADAL" clId="{31240669-A139-4487-A095-57964DDBD73A}" dt="2026-01-22T10:48:14.125" v="203" actId="20577"/>
          <ac:spMkLst>
            <pc:docMk/>
            <pc:sldMk cId="2280401822" sldId="258"/>
            <ac:spMk id="2" creationId="{6A020C94-6C17-C80F-0339-34AD6ED68812}"/>
          </ac:spMkLst>
        </pc:spChg>
        <pc:spChg chg="add mod">
          <ac:chgData name="Louise Brown (Advanced Research Computing)" userId="1a26bf97-cc65-4962-b1c9-f482974b10b6" providerId="ADAL" clId="{31240669-A139-4487-A095-57964DDBD73A}" dt="2026-01-22T10:48:51.219" v="207" actId="1076"/>
          <ac:spMkLst>
            <pc:docMk/>
            <pc:sldMk cId="2280401822" sldId="258"/>
            <ac:spMk id="3" creationId="{B87E1EBF-0468-3F56-7095-A02AE6BA5B66}"/>
          </ac:spMkLst>
        </pc:spChg>
      </pc:sldChg>
      <pc:sldChg chg="addSp delSp modSp new mod">
        <pc:chgData name="Louise Brown (Advanced Research Computing)" userId="1a26bf97-cc65-4962-b1c9-f482974b10b6" providerId="ADAL" clId="{31240669-A139-4487-A095-57964DDBD73A}" dt="2026-01-22T11:46:18.382" v="334" actId="6549"/>
        <pc:sldMkLst>
          <pc:docMk/>
          <pc:sldMk cId="1223173470" sldId="259"/>
        </pc:sldMkLst>
        <pc:spChg chg="mod">
          <ac:chgData name="Louise Brown (Advanced Research Computing)" userId="1a26bf97-cc65-4962-b1c9-f482974b10b6" providerId="ADAL" clId="{31240669-A139-4487-A095-57964DDBD73A}" dt="2026-01-22T11:46:18.382" v="334" actId="6549"/>
          <ac:spMkLst>
            <pc:docMk/>
            <pc:sldMk cId="1223173470" sldId="259"/>
            <ac:spMk id="2" creationId="{A1C0AA22-98CD-700F-DA5E-1DA39DC34C88}"/>
          </ac:spMkLst>
        </pc:spChg>
        <pc:spChg chg="add del mod">
          <ac:chgData name="Louise Brown (Advanced Research Computing)" userId="1a26bf97-cc65-4962-b1c9-f482974b10b6" providerId="ADAL" clId="{31240669-A139-4487-A095-57964DDBD73A}" dt="2026-01-22T11:45:03.685" v="279" actId="478"/>
          <ac:spMkLst>
            <pc:docMk/>
            <pc:sldMk cId="1223173470" sldId="259"/>
            <ac:spMk id="4" creationId="{07762F95-5FA2-B311-42EE-09D4A0AB3B88}"/>
          </ac:spMkLst>
        </pc:spChg>
        <pc:spChg chg="add del mod">
          <ac:chgData name="Louise Brown (Advanced Research Computing)" userId="1a26bf97-cc65-4962-b1c9-f482974b10b6" providerId="ADAL" clId="{31240669-A139-4487-A095-57964DDBD73A}" dt="2026-01-22T11:45:08.139" v="280" actId="478"/>
          <ac:spMkLst>
            <pc:docMk/>
            <pc:sldMk cId="1223173470" sldId="259"/>
            <ac:spMk id="5" creationId="{648D5964-5BF6-17E7-E2B0-B4900D91A2C6}"/>
          </ac:spMkLst>
        </pc:spChg>
        <pc:picChg chg="add mod">
          <ac:chgData name="Louise Brown (Advanced Research Computing)" userId="1a26bf97-cc65-4962-b1c9-f482974b10b6" providerId="ADAL" clId="{31240669-A139-4487-A095-57964DDBD73A}" dt="2026-01-22T11:46:02.015" v="323" actId="1076"/>
          <ac:picMkLst>
            <pc:docMk/>
            <pc:sldMk cId="1223173470" sldId="259"/>
            <ac:picMk id="7" creationId="{E89E471C-F100-7FD3-2F01-6D32966E4A90}"/>
          </ac:picMkLst>
        </pc:picChg>
      </pc:sldChg>
      <pc:sldChg chg="addSp modSp new mod">
        <pc:chgData name="Louise Brown (Advanced Research Computing)" userId="1a26bf97-cc65-4962-b1c9-f482974b10b6" providerId="ADAL" clId="{31240669-A139-4487-A095-57964DDBD73A}" dt="2026-01-22T12:02:48.722" v="379" actId="1076"/>
        <pc:sldMkLst>
          <pc:docMk/>
          <pc:sldMk cId="166184496" sldId="260"/>
        </pc:sldMkLst>
        <pc:spChg chg="mod">
          <ac:chgData name="Louise Brown (Advanced Research Computing)" userId="1a26bf97-cc65-4962-b1c9-f482974b10b6" providerId="ADAL" clId="{31240669-A139-4487-A095-57964DDBD73A}" dt="2026-01-22T12:02:28.383" v="374" actId="20577"/>
          <ac:spMkLst>
            <pc:docMk/>
            <pc:sldMk cId="166184496" sldId="260"/>
            <ac:spMk id="2" creationId="{0CF44166-3037-0D08-1E15-C9913A060B4D}"/>
          </ac:spMkLst>
        </pc:spChg>
        <pc:picChg chg="add mod">
          <ac:chgData name="Louise Brown (Advanced Research Computing)" userId="1a26bf97-cc65-4962-b1c9-f482974b10b6" providerId="ADAL" clId="{31240669-A139-4487-A095-57964DDBD73A}" dt="2026-01-22T12:02:48.722" v="379" actId="1076"/>
          <ac:picMkLst>
            <pc:docMk/>
            <pc:sldMk cId="166184496" sldId="260"/>
            <ac:picMk id="4" creationId="{CE855A71-9A9A-CBA2-47BF-79907B25D21D}"/>
          </ac:picMkLst>
        </pc:picChg>
      </pc:sldChg>
      <pc:sldChg chg="addSp modSp new mod">
        <pc:chgData name="Louise Brown (Advanced Research Computing)" userId="1a26bf97-cc65-4962-b1c9-f482974b10b6" providerId="ADAL" clId="{31240669-A139-4487-A095-57964DDBD73A}" dt="2026-01-22T12:16:22.519" v="606" actId="1076"/>
        <pc:sldMkLst>
          <pc:docMk/>
          <pc:sldMk cId="3387996650" sldId="261"/>
        </pc:sldMkLst>
        <pc:spChg chg="add mod">
          <ac:chgData name="Louise Brown (Advanced Research Computing)" userId="1a26bf97-cc65-4962-b1c9-f482974b10b6" providerId="ADAL" clId="{31240669-A139-4487-A095-57964DDBD73A}" dt="2026-01-22T12:16:22.519" v="606" actId="1076"/>
          <ac:spMkLst>
            <pc:docMk/>
            <pc:sldMk cId="3387996650" sldId="261"/>
            <ac:spMk id="3" creationId="{9A1213C2-3BCC-1E61-B384-791CE63A59E0}"/>
          </ac:spMkLst>
        </pc:spChg>
        <pc:spChg chg="add mod">
          <ac:chgData name="Louise Brown (Advanced Research Computing)" userId="1a26bf97-cc65-4962-b1c9-f482974b10b6" providerId="ADAL" clId="{31240669-A139-4487-A095-57964DDBD73A}" dt="2026-01-22T12:16:13.163" v="605" actId="1076"/>
          <ac:spMkLst>
            <pc:docMk/>
            <pc:sldMk cId="3387996650" sldId="261"/>
            <ac:spMk id="4" creationId="{BCD21DF3-9AFB-0A5D-2490-B0D31D970D5C}"/>
          </ac:spMkLst>
        </pc:spChg>
      </pc:sldChg>
      <pc:sldChg chg="addSp modSp new mod">
        <pc:chgData name="Louise Brown (Advanced Research Computing)" userId="1a26bf97-cc65-4962-b1c9-f482974b10b6" providerId="ADAL" clId="{31240669-A139-4487-A095-57964DDBD73A}" dt="2026-01-22T13:39:43.615" v="663" actId="1076"/>
        <pc:sldMkLst>
          <pc:docMk/>
          <pc:sldMk cId="4091479220" sldId="262"/>
        </pc:sldMkLst>
        <pc:spChg chg="add mod">
          <ac:chgData name="Louise Brown (Advanced Research Computing)" userId="1a26bf97-cc65-4962-b1c9-f482974b10b6" providerId="ADAL" clId="{31240669-A139-4487-A095-57964DDBD73A}" dt="2026-01-22T13:39:42.378" v="662" actId="1076"/>
          <ac:spMkLst>
            <pc:docMk/>
            <pc:sldMk cId="4091479220" sldId="262"/>
            <ac:spMk id="4" creationId="{9A2AEFFA-200D-D500-21A7-99A4A7DF5C91}"/>
          </ac:spMkLst>
        </pc:spChg>
        <pc:picChg chg="add mod">
          <ac:chgData name="Louise Brown (Advanced Research Computing)" userId="1a26bf97-cc65-4962-b1c9-f482974b10b6" providerId="ADAL" clId="{31240669-A139-4487-A095-57964DDBD73A}" dt="2026-01-22T13:39:43.615" v="663" actId="1076"/>
          <ac:picMkLst>
            <pc:docMk/>
            <pc:sldMk cId="4091479220" sldId="262"/>
            <ac:picMk id="3" creationId="{E620C391-20C5-6C32-725C-F3CDA73D450C}"/>
          </ac:picMkLst>
        </pc:picChg>
      </pc:sldChg>
      <pc:sldChg chg="addSp modSp new mod">
        <pc:chgData name="Louise Brown (Advanced Research Computing)" userId="1a26bf97-cc65-4962-b1c9-f482974b10b6" providerId="ADAL" clId="{31240669-A139-4487-A095-57964DDBD73A}" dt="2026-01-22T14:14:21.298" v="708" actId="1076"/>
        <pc:sldMkLst>
          <pc:docMk/>
          <pc:sldMk cId="1539340951" sldId="263"/>
        </pc:sldMkLst>
        <pc:spChg chg="mod">
          <ac:chgData name="Louise Brown (Advanced Research Computing)" userId="1a26bf97-cc65-4962-b1c9-f482974b10b6" providerId="ADAL" clId="{31240669-A139-4487-A095-57964DDBD73A}" dt="2026-01-22T14:08:44.040" v="705" actId="20577"/>
          <ac:spMkLst>
            <pc:docMk/>
            <pc:sldMk cId="1539340951" sldId="263"/>
            <ac:spMk id="2" creationId="{24928B5C-1A88-B4C4-5A3C-F47521383AC3}"/>
          </ac:spMkLst>
        </pc:spChg>
        <pc:spChg chg="add mod">
          <ac:chgData name="Louise Brown (Advanced Research Computing)" userId="1a26bf97-cc65-4962-b1c9-f482974b10b6" providerId="ADAL" clId="{31240669-A139-4487-A095-57964DDBD73A}" dt="2026-01-22T14:14:21.298" v="708" actId="1076"/>
          <ac:spMkLst>
            <pc:docMk/>
            <pc:sldMk cId="1539340951" sldId="263"/>
            <ac:spMk id="6" creationId="{D862A857-BC7F-6160-DC28-E8A96EB9C2B8}"/>
          </ac:spMkLst>
        </pc:spChg>
        <pc:picChg chg="add mod">
          <ac:chgData name="Louise Brown (Advanced Research Computing)" userId="1a26bf97-cc65-4962-b1c9-f482974b10b6" providerId="ADAL" clId="{31240669-A139-4487-A095-57964DDBD73A}" dt="2026-01-22T13:52:47.729" v="669" actId="1076"/>
          <ac:picMkLst>
            <pc:docMk/>
            <pc:sldMk cId="1539340951" sldId="263"/>
            <ac:picMk id="4" creationId="{C8A61302-D799-3CAC-B293-FC50B01D71FB}"/>
          </ac:picMkLst>
        </pc:picChg>
      </pc:sldChg>
      <pc:sldChg chg="addSp modSp new mod">
        <pc:chgData name="Louise Brown (Advanced Research Computing)" userId="1a26bf97-cc65-4962-b1c9-f482974b10b6" providerId="ADAL" clId="{31240669-A139-4487-A095-57964DDBD73A}" dt="2026-01-22T14:23:16.235" v="753" actId="1076"/>
        <pc:sldMkLst>
          <pc:docMk/>
          <pc:sldMk cId="3126166857" sldId="264"/>
        </pc:sldMkLst>
        <pc:spChg chg="mod">
          <ac:chgData name="Louise Brown (Advanced Research Computing)" userId="1a26bf97-cc65-4962-b1c9-f482974b10b6" providerId="ADAL" clId="{31240669-A139-4487-A095-57964DDBD73A}" dt="2026-01-22T14:22:58.726" v="750" actId="14100"/>
          <ac:spMkLst>
            <pc:docMk/>
            <pc:sldMk cId="3126166857" sldId="264"/>
            <ac:spMk id="2" creationId="{FCC965EE-9C4A-AB47-3B1A-4DEAC42DA56D}"/>
          </ac:spMkLst>
        </pc:spChg>
        <pc:picChg chg="add mod">
          <ac:chgData name="Louise Brown (Advanced Research Computing)" userId="1a26bf97-cc65-4962-b1c9-f482974b10b6" providerId="ADAL" clId="{31240669-A139-4487-A095-57964DDBD73A}" dt="2026-01-22T14:23:16.235" v="753" actId="1076"/>
          <ac:picMkLst>
            <pc:docMk/>
            <pc:sldMk cId="3126166857" sldId="264"/>
            <ac:picMk id="4" creationId="{1E06D451-73A2-F435-E8E0-0B96AAFF0DE0}"/>
          </ac:picMkLst>
        </pc:picChg>
      </pc:sldChg>
      <pc:sldChg chg="addSp modSp new mod">
        <pc:chgData name="Louise Brown (Advanced Research Computing)" userId="1a26bf97-cc65-4962-b1c9-f482974b10b6" providerId="ADAL" clId="{31240669-A139-4487-A095-57964DDBD73A}" dt="2026-01-22T17:38:27.628" v="792"/>
        <pc:sldMkLst>
          <pc:docMk/>
          <pc:sldMk cId="4021048157" sldId="265"/>
        </pc:sldMkLst>
        <pc:spChg chg="mod">
          <ac:chgData name="Louise Brown (Advanced Research Computing)" userId="1a26bf97-cc65-4962-b1c9-f482974b10b6" providerId="ADAL" clId="{31240669-A139-4487-A095-57964DDBD73A}" dt="2026-01-22T17:36:44.843" v="773" actId="20577"/>
          <ac:spMkLst>
            <pc:docMk/>
            <pc:sldMk cId="4021048157" sldId="265"/>
            <ac:spMk id="2" creationId="{0CFE0A42-F4D5-382F-621D-DC3BE775C062}"/>
          </ac:spMkLst>
        </pc:spChg>
        <pc:spChg chg="add mod">
          <ac:chgData name="Louise Brown (Advanced Research Computing)" userId="1a26bf97-cc65-4962-b1c9-f482974b10b6" providerId="ADAL" clId="{31240669-A139-4487-A095-57964DDBD73A}" dt="2026-01-22T17:38:27.628" v="792"/>
          <ac:spMkLst>
            <pc:docMk/>
            <pc:sldMk cId="4021048157" sldId="265"/>
            <ac:spMk id="5" creationId="{C84F50C2-7982-2AC2-BAE5-AAD07970BB13}"/>
          </ac:spMkLst>
        </pc:spChg>
        <pc:picChg chg="add mod">
          <ac:chgData name="Louise Brown (Advanced Research Computing)" userId="1a26bf97-cc65-4962-b1c9-f482974b10b6" providerId="ADAL" clId="{31240669-A139-4487-A095-57964DDBD73A}" dt="2026-01-22T17:37:23.676" v="777" actId="1076"/>
          <ac:picMkLst>
            <pc:docMk/>
            <pc:sldMk cId="4021048157" sldId="265"/>
            <ac:picMk id="4" creationId="{C2AAD6C3-10B3-43D2-E4E9-ABAFE4A781F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EBA30-CA74-E763-625B-555934E98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E6A1C4-51D7-B307-5E38-F411455C5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6A8D-B4D0-5732-830E-C707D59E1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DAAEA-A036-2CEE-0885-E81D52835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AADB5-B2A6-CFDA-3207-665DC40C7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9665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51F9C-7140-6429-3505-00CE502D0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961E9-4854-3AD3-BE7D-E90498BC8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EF0FD-0880-616E-E0AC-745EA67F3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ACC0D-7F9B-65BB-8EA8-737F1FD06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DF45E-AA14-765F-52AC-5344FC6A2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6598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2ACC5-3B51-0F58-39D9-BCB27AA6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6BFD0-F031-78A4-5C0C-E2EA34ABC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56A51-315A-0028-ECAA-373B3221C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C51E3-10DE-98E8-0700-9AACC4AB2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2DF0E-33AA-3B39-DC47-24DCA720E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5596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A425D-55F5-C27E-1072-A4F09BD72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7C5A8-B5E0-9AAC-D03A-50F4DAD2E4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EF9CA-E8C9-A1E1-3DF0-2B4A078404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42C7D1-3446-37B0-2B85-B8EC44277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3A8848-4EB5-ED15-A034-F5B249DC5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1E42BA-E69C-A9CA-B8D2-D83836491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214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70F49-19EA-7088-DA39-940E1FA9D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9DB58-57FE-ABF9-4B32-44EEA39BD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E3C41-80BA-F1E2-26DA-23FC856EF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D02809-9BF2-0FF3-1759-C9670E549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A1565B-64A0-863A-47D1-89AD7FC91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D0C373-E221-08F0-60B9-529ABB58D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69393C-2793-14E0-C3DB-4CE00C6FD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B869EE-B846-CD34-E0BA-9149954D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8003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1CA2E-9ACA-540D-92EE-584EEEBCA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447C79-5BDE-1DD6-8D00-172B069C2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5023BE-1E37-03FD-5DF1-4CF9F262E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F30A66-E91B-11C4-492C-50B7A2AA3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9246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13559C-4961-545C-9531-B9DD4332B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36F31D-C34F-3986-616E-D6DFDF8AB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3506E-25C4-7C2A-C75E-B4AB29AFB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3850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A5972-5B4E-A7BC-2882-1E5EE36F1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C4713-D632-3B47-75AA-F4B2EE705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833378-BCCC-181C-D963-ACB8E56CF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29808-3BC8-5BDD-639F-19AE420DB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47957-08B0-A971-0684-984F60F79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D66D2-A3F9-BD77-A8C7-5F28B46E2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7125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25B8F-B140-21AA-39BC-EEF47DEC1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FFFF4A-9BD0-18A0-A087-8BF529ED86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21D04-F51B-1DB7-FB6E-E39234A0B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5D663-8927-7571-B926-FB25A4BB0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D08EAE-C990-072F-EA7E-6FC3DEB4E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F7F33-BE3F-D40B-AAB4-235B76AF9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1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BDCC4-5B2F-94D7-35FC-831D84BC3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713564-C611-1006-D4CF-A430B4012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2847B-4895-8C8C-0330-F0758108A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EF406-9C28-F966-B554-EEB571FFE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51490-0B3E-48B6-0C43-3B62A3D16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71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3CCE31-6F9A-A075-D7DE-4DB34FBBBC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60BF74-35A8-051A-B5EE-430FF86A51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910B4-9542-8117-188A-F0735832D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C3D62-EC33-1877-6438-1DB9485E8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E168-1BE4-EFD1-90BD-934EF8A41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586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2E4F16-6A33-590C-E998-18078E5FD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21935-1F17-2770-8A15-DB1289DB7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F51E4-A158-152B-4B4B-64E5199C74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EBFD85-82E7-47E4-885E-AE80971B230E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089DA-EA2E-9F78-F186-A5C4CD7570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BE1C0-E421-00EB-C540-B503BD142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374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ad.carpentries.org/2026-03-18-bham-web-scraping-Python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Web_scraping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oia.gov/how-to.html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office.com/e/jYyr9knhiv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onlinesurveys.jisc.ac.uk/s/bham/2026-it-needs-of-active-research" TargetMode="External"/><Relationship Id="rId2" Type="http://schemas.openxmlformats.org/officeDocument/2006/relationships/hyperlink" Target="https://blog.bham.ac.uk/bear/2026/01/16/update-2024-it-needs-of-active-research-survey-progress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20C94-6C17-C80F-0339-34AD6ED68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Welcome to Web Scraping with Python!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E1EBF-0468-3F56-7095-A02AE6BA5B66}"/>
              </a:ext>
            </a:extLst>
          </p:cNvPr>
          <p:cNvSpPr txBox="1"/>
          <p:nvPr/>
        </p:nvSpPr>
        <p:spPr>
          <a:xfrm>
            <a:off x="1074093" y="2456252"/>
            <a:ext cx="1004381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Gill Sans MT" panose="020B0502020104020203" pitchFamily="34" charset="0"/>
              </a:rPr>
              <a:t>Please log onto the </a:t>
            </a:r>
            <a:r>
              <a:rPr lang="en-GB" sz="2800" dirty="0" err="1">
                <a:latin typeface="Gill Sans MT" panose="020B0502020104020203" pitchFamily="34" charset="0"/>
              </a:rPr>
              <a:t>Etherpad</a:t>
            </a:r>
            <a:r>
              <a:rPr lang="en-GB" sz="2800" dirty="0">
                <a:latin typeface="Gill Sans MT" panose="020B0502020104020203" pitchFamily="34" charset="0"/>
              </a:rPr>
              <a:t>: </a:t>
            </a:r>
          </a:p>
          <a:p>
            <a:r>
              <a:rPr lang="en-GB" sz="2800" dirty="0">
                <a:latin typeface="Gill Sans MT" panose="020B0502020104020203" pitchFamily="34" charset="0"/>
                <a:hlinkClick r:id="rId2"/>
              </a:rPr>
              <a:t>https://pad.carpentries.org/2026-03-18-bham-web-scraping-Python</a:t>
            </a:r>
            <a:endParaRPr lang="en-GB" sz="2800" dirty="0">
              <a:latin typeface="Gill Sans MT" panose="020B0502020104020203" pitchFamily="34" charset="0"/>
            </a:endParaRPr>
          </a:p>
          <a:p>
            <a:endParaRPr lang="en-GB" sz="2800" dirty="0">
              <a:latin typeface="Gill Sans MT" panose="020B0502020104020203" pitchFamily="34" charset="0"/>
            </a:endParaRPr>
          </a:p>
          <a:p>
            <a:r>
              <a:rPr lang="en-GB" sz="2800" dirty="0">
                <a:latin typeface="Gill Sans MT" panose="020B0502020104020203" pitchFamily="34" charset="0"/>
              </a:rPr>
              <a:t>Add your details in the ‘Sign in’ section</a:t>
            </a:r>
          </a:p>
          <a:p>
            <a:endParaRPr lang="en-GB" sz="2800" dirty="0">
              <a:latin typeface="Gill Sans MT" panose="020B0502020104020203" pitchFamily="34" charset="0"/>
            </a:endParaRPr>
          </a:p>
          <a:p>
            <a:r>
              <a:rPr lang="en-GB" sz="2800" dirty="0">
                <a:latin typeface="Gill Sans MT" panose="020B0502020104020203" pitchFamily="34" charset="0"/>
              </a:rPr>
              <a:t>Check if you have completed the Software Setup’</a:t>
            </a:r>
          </a:p>
        </p:txBody>
      </p:sp>
    </p:spTree>
    <p:extLst>
      <p:ext uri="{BB962C8B-B14F-4D97-AF65-F5344CB8AC3E}">
        <p14:creationId xmlns:p14="http://schemas.microsoft.com/office/powerpoint/2010/main" val="2280401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213C2-3BCC-1E61-B384-791CE63A59E0}"/>
              </a:ext>
            </a:extLst>
          </p:cNvPr>
          <p:cNvSpPr txBox="1"/>
          <p:nvPr/>
        </p:nvSpPr>
        <p:spPr>
          <a:xfrm>
            <a:off x="1766316" y="4153715"/>
            <a:ext cx="86593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Gill Sans MT" panose="020B0502020104020203" pitchFamily="34" charset="0"/>
              </a:rPr>
              <a:t>Web scraping typically targets one web site at a time to extract unstructured information and put it in a structured form for reuse.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D21DF3-9AFB-0A5D-2490-B0D31D970D5C}"/>
              </a:ext>
            </a:extLst>
          </p:cNvPr>
          <p:cNvSpPr txBox="1"/>
          <p:nvPr/>
        </p:nvSpPr>
        <p:spPr>
          <a:xfrm>
            <a:off x="2004060" y="1146434"/>
            <a:ext cx="818388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Gill Sans MT" panose="020B0502020104020203" pitchFamily="34" charset="0"/>
              </a:rPr>
              <a:t>“Web scraping (web harvesting or web data extraction) is a computer software technique of extracting information from websites.”</a:t>
            </a:r>
          </a:p>
          <a:p>
            <a:r>
              <a:rPr lang="en-GB" sz="2800" dirty="0">
                <a:latin typeface="Gill Sans MT" panose="020B0502020104020203" pitchFamily="34" charset="0"/>
              </a:rPr>
              <a:t>Wikipedia </a:t>
            </a:r>
            <a:r>
              <a:rPr lang="en-GB" sz="2800" b="0" u="sng" dirty="0">
                <a:solidFill>
                  <a:srgbClr val="3B3B3B"/>
                </a:solidFill>
                <a:effectLst/>
                <a:latin typeface="Gill Sans MT" panose="020B0502020104020203" pitchFamily="34" charset="0"/>
                <a:hlinkClick r:id="rId2"/>
              </a:rPr>
              <a:t>https://en.wikipedia.org/wiki/Web_scraping</a:t>
            </a:r>
            <a:endParaRPr lang="en-GB" sz="2800" b="0" u="sng" dirty="0">
              <a:solidFill>
                <a:srgbClr val="3B3B3B"/>
              </a:solidFill>
              <a:effectLst/>
              <a:latin typeface="Gill Sans MT" panose="020B0502020104020203" pitchFamily="34" charset="0"/>
            </a:endParaRPr>
          </a:p>
          <a:p>
            <a:endParaRPr lang="en-GB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996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8AAE5-5426-A83E-59B1-BA69EAB9C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Web scraping might not be necessary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C7444B-40F9-39C9-E477-15D2B041A9FF}"/>
              </a:ext>
            </a:extLst>
          </p:cNvPr>
          <p:cNvSpPr txBox="1"/>
          <p:nvPr/>
        </p:nvSpPr>
        <p:spPr>
          <a:xfrm>
            <a:off x="1456182" y="1963048"/>
            <a:ext cx="916914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1F1F1F"/>
                </a:solidFill>
                <a:effectLst/>
              </a:rPr>
              <a:t>It might be possible (and quicker) to copy and paste data into a spreadsheet (probably only for small amounts of data)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2000" b="0" i="0" dirty="0">
              <a:solidFill>
                <a:srgbClr val="1F1F1F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1F1F1F"/>
                </a:solidFill>
              </a:rPr>
              <a:t>Data may be available for download on a website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2000" dirty="0">
              <a:solidFill>
                <a:srgbClr val="1F1F1F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1F1F1F"/>
                </a:solidFill>
                <a:effectLst/>
              </a:rPr>
              <a:t>An AP</a:t>
            </a:r>
            <a:r>
              <a:rPr lang="en-GB" sz="2000" dirty="0">
                <a:solidFill>
                  <a:srgbClr val="1F1F1F"/>
                </a:solidFill>
              </a:rPr>
              <a:t>I (application programming interface) may be provided for extraction of data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2000" dirty="0">
              <a:solidFill>
                <a:srgbClr val="1F1F1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1F1F1F"/>
                </a:solidFill>
                <a:latin typeface="Mulish"/>
              </a:rPr>
              <a:t>For much larger needs, </a:t>
            </a:r>
            <a:r>
              <a:rPr lang="en-GB" sz="2000" dirty="0">
                <a:solidFill>
                  <a:srgbClr val="1F62FF"/>
                </a:solidFill>
                <a:latin typeface="Mulish"/>
                <a:hlinkClick r:id="rId2"/>
              </a:rPr>
              <a:t>Freedom of information Act (FOIA)</a:t>
            </a:r>
            <a:r>
              <a:rPr lang="en-GB" sz="2000" dirty="0">
                <a:solidFill>
                  <a:srgbClr val="1F1F1F"/>
                </a:solidFill>
                <a:latin typeface="Mulish"/>
              </a:rPr>
              <a:t> requests can be useful. Be specific about the formats required for the data you want.</a:t>
            </a:r>
            <a:endParaRPr lang="en-GB" sz="2000" dirty="0">
              <a:solidFill>
                <a:srgbClr val="1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817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E620C391-20C5-6C32-725C-F3CDA73D4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208" y="1053458"/>
            <a:ext cx="9315816" cy="55942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2AEFFA-200D-D500-21A7-99A4A7DF5C91}"/>
              </a:ext>
            </a:extLst>
          </p:cNvPr>
          <p:cNvSpPr txBox="1"/>
          <p:nvPr/>
        </p:nvSpPr>
        <p:spPr>
          <a:xfrm>
            <a:off x="1481720" y="210312"/>
            <a:ext cx="8622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Gill Sans MT" panose="020B0502020104020203" pitchFamily="34" charset="0"/>
              </a:rPr>
              <a:t>Hypertext Markup Language – html</a:t>
            </a:r>
          </a:p>
        </p:txBody>
      </p:sp>
    </p:spTree>
    <p:extLst>
      <p:ext uri="{BB962C8B-B14F-4D97-AF65-F5344CB8AC3E}">
        <p14:creationId xmlns:p14="http://schemas.microsoft.com/office/powerpoint/2010/main" val="4091479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28B5C-1A88-B4C4-5A3C-F47521383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ill Sans MT" panose="020B0502020104020203" pitchFamily="34" charset="0"/>
              </a:rPr>
              <a:t>html</a:t>
            </a:r>
            <a:r>
              <a:rPr lang="en-GB" dirty="0">
                <a:latin typeface="Gill Sans Nova" panose="020B0602020104020203" pitchFamily="34" charset="0"/>
              </a:rPr>
              <a:t>  Tree Format</a:t>
            </a:r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C8A61302-D799-3CAC-B293-FC50B01D7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517" y="1892226"/>
            <a:ext cx="5476965" cy="44992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62A857-BC7F-6160-DC28-E8A96EB9C2B8}"/>
              </a:ext>
            </a:extLst>
          </p:cNvPr>
          <p:cNvSpPr txBox="1"/>
          <p:nvPr/>
        </p:nvSpPr>
        <p:spPr>
          <a:xfrm>
            <a:off x="7961376" y="6391518"/>
            <a:ext cx="4230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212529"/>
                </a:solidFill>
                <a:effectLst/>
                <a:latin typeface="Mulish"/>
              </a:rPr>
              <a:t>Source: Wikipedia. Author: Birger Eriksson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9340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0F5C0-84F8-3C4C-67C1-0F68CF983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101"/>
            <a:ext cx="10515600" cy="659003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Gill Sans MT" panose="020B0502020104020203" pitchFamily="34" charset="0"/>
              </a:rPr>
              <a:t>html tags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80481A-414D-C1F4-B3C0-430952024FAD}"/>
              </a:ext>
            </a:extLst>
          </p:cNvPr>
          <p:cNvSpPr txBox="1"/>
          <p:nvPr/>
        </p:nvSpPr>
        <p:spPr>
          <a:xfrm>
            <a:off x="713232" y="905684"/>
            <a:ext cx="10963656" cy="58631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&lt;</a:t>
            </a:r>
            <a:r>
              <a:rPr lang="en-GB" sz="1700" b="1" dirty="0" err="1"/>
              <a:t>hmtl</a:t>
            </a:r>
            <a:r>
              <a:rPr lang="en-GB" sz="1700" b="1" dirty="0"/>
              <a:t>&gt;...&lt;/html&gt;   </a:t>
            </a:r>
            <a:r>
              <a:rPr lang="en-GB" sz="1700" dirty="0"/>
              <a:t>		The root element that contains the entire document.</a:t>
            </a:r>
          </a:p>
          <a:p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&lt;head&gt;...&lt;/head&gt;</a:t>
            </a:r>
            <a:r>
              <a:rPr lang="en-GB" sz="1700" dirty="0"/>
              <a:t>		Contains metadata such as the page title that the browser displays.</a:t>
            </a:r>
          </a:p>
          <a:p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&lt;body&gt;...&lt;/body&gt;</a:t>
            </a:r>
            <a:r>
              <a:rPr lang="en-GB" sz="1700" dirty="0"/>
              <a:t>		Contains the content that will be shown on the webpage.</a:t>
            </a:r>
          </a:p>
          <a:p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&lt;h1&gt;...&lt;/h1&gt;, &lt;h2&gt;...&lt;/h2&gt;</a:t>
            </a:r>
            <a:r>
              <a:rPr lang="en-GB" sz="1700" dirty="0"/>
              <a:t>	Define headers of levels 1, 2, 3, and so on.</a:t>
            </a:r>
          </a:p>
          <a:p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&lt;p&gt;...&lt;/p&gt;</a:t>
            </a:r>
            <a:r>
              <a:rPr lang="en-GB" sz="1700" dirty="0"/>
              <a:t>			Represents a paragraph.</a:t>
            </a:r>
          </a:p>
          <a:p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&lt;a </a:t>
            </a:r>
            <a:r>
              <a:rPr lang="en-GB" sz="1700" b="1" dirty="0" err="1"/>
              <a:t>href</a:t>
            </a:r>
            <a:r>
              <a:rPr lang="en-GB" sz="1700" b="1" dirty="0"/>
              <a:t>=""&gt;...&lt;/a&gt;</a:t>
            </a:r>
            <a:r>
              <a:rPr lang="en-GB" sz="1700" dirty="0"/>
              <a:t>		Creates a hyperlink; the destination URL is set with the </a:t>
            </a:r>
            <a:r>
              <a:rPr lang="en-GB" sz="1700" b="1" dirty="0" err="1"/>
              <a:t>href</a:t>
            </a:r>
            <a:r>
              <a:rPr lang="en-GB" sz="1700" dirty="0"/>
              <a:t> attribute.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&lt;</a:t>
            </a:r>
            <a:r>
              <a:rPr lang="en-GB" sz="1700" b="1" dirty="0" err="1"/>
              <a:t>img</a:t>
            </a:r>
            <a:r>
              <a:rPr lang="en-GB" sz="1700" b="1" dirty="0"/>
              <a:t> </a:t>
            </a:r>
            <a:r>
              <a:rPr lang="en-GB" sz="1700" b="1" dirty="0" err="1"/>
              <a:t>src</a:t>
            </a:r>
            <a:r>
              <a:rPr lang="en-GB" sz="1700" b="1" dirty="0"/>
              <a:t>="" alt=""&gt;		</a:t>
            </a:r>
            <a:r>
              <a:rPr lang="en-GB" sz="1700" dirty="0"/>
              <a:t>Embeds an image, with the image source specified by `</a:t>
            </a:r>
            <a:r>
              <a:rPr lang="en-GB" sz="1700" dirty="0" err="1"/>
              <a:t>src</a:t>
            </a:r>
            <a:r>
              <a:rPr lang="en-GB" sz="1700" dirty="0"/>
              <a:t>` and 					alternative text provided by `alt`. It doesn't have an opening tag.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&lt;table&gt;...&lt;/table&gt;, &lt;</a:t>
            </a:r>
            <a:r>
              <a:rPr lang="en-GB" sz="1700" b="1" dirty="0" err="1"/>
              <a:t>th</a:t>
            </a:r>
            <a:r>
              <a:rPr lang="en-GB" sz="1700" b="1" dirty="0"/>
              <a:t>&gt;...&lt;/</a:t>
            </a:r>
            <a:r>
              <a:rPr lang="en-GB" sz="1700" b="1" dirty="0" err="1"/>
              <a:t>th</a:t>
            </a:r>
            <a:r>
              <a:rPr lang="en-GB" sz="1700" b="1" dirty="0"/>
              <a:t>&gt;, 	</a:t>
            </a:r>
            <a:r>
              <a:rPr lang="en-GB" sz="1700" dirty="0"/>
              <a:t>Define a table structure, with headers (`&lt;</a:t>
            </a:r>
            <a:r>
              <a:rPr lang="en-GB" sz="1700" dirty="0" err="1"/>
              <a:t>th</a:t>
            </a:r>
            <a:r>
              <a:rPr lang="en-GB" sz="1700" dirty="0"/>
              <a:t>&gt;`), rows (`&lt;tr&gt;`), </a:t>
            </a:r>
          </a:p>
          <a:p>
            <a:r>
              <a:rPr lang="en-GB" sz="1700" b="1" dirty="0"/>
              <a:t>      &lt;tr&gt;...&lt;/tr&gt;, &lt;td&gt;...&lt;/td&gt; </a:t>
            </a:r>
            <a:r>
              <a:rPr lang="en-GB" sz="1700"/>
              <a:t>		and </a:t>
            </a:r>
            <a:r>
              <a:rPr lang="en-GB" sz="1700" dirty="0"/>
              <a:t>cells (`&lt;td&gt;`).</a:t>
            </a:r>
          </a:p>
          <a:p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&lt;div&gt;...&lt;/div&gt;			</a:t>
            </a:r>
            <a:r>
              <a:rPr lang="en-GB" sz="1700" dirty="0"/>
              <a:t>Groups sections of HTML content together.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&lt;script&gt;...&lt;/script&gt;		</a:t>
            </a:r>
            <a:r>
              <a:rPr lang="en-GB" sz="1700" dirty="0"/>
              <a:t>Embeds or links to JavaScript code.</a:t>
            </a:r>
          </a:p>
          <a:p>
            <a:endParaRPr lang="en-GB" dirty="0">
              <a:latin typeface="Gill Sans Nova" panose="020B06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24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8B16F-FB2A-64B7-86A0-7A073C8D2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Please take a couple of minutes to fill in the feedback form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3BCEAE-15E7-B060-D9D0-D0F2D0CA44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02443" y="1944497"/>
            <a:ext cx="3615055" cy="36150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5BD9E5-AEC1-2D3B-DC3B-314B1F03DC04}"/>
              </a:ext>
            </a:extLst>
          </p:cNvPr>
          <p:cNvSpPr txBox="1"/>
          <p:nvPr/>
        </p:nvSpPr>
        <p:spPr>
          <a:xfrm>
            <a:off x="1117854" y="3336525"/>
            <a:ext cx="6094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u="none" strike="noStrike" dirty="0">
                <a:solidFill>
                  <a:srgbClr val="1264A3"/>
                </a:solidFill>
                <a:effectLst/>
                <a:hlinkClick r:id="rId3"/>
              </a:rPr>
              <a:t>Web Scraping with Python - 18 Mar 2026 - BEAR Training Feedback form – Fill out form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84654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57C48-2C50-5587-5B64-24F7CE236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2026 IT Needs of Active Research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9116-DBB8-4101-FC45-CEDC7FD29B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1" y="1310641"/>
            <a:ext cx="7175693" cy="437896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Survey going live Monday 23 February for 4 weeks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600" dirty="0"/>
              <a:t>Being sent to all research staff via new mailing list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600" dirty="0"/>
              <a:t>PGR Leads being asked to send out to PGRs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Your opportunity to shape the future of research computing at </a:t>
            </a:r>
            <a:r>
              <a:rPr lang="en-GB" sz="2000" dirty="0" err="1"/>
              <a:t>UoB</a:t>
            </a:r>
            <a:r>
              <a:rPr lang="en-GB" sz="2000" dirty="0"/>
              <a:t>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600" dirty="0">
                <a:hlinkClick r:id="rId2"/>
              </a:rPr>
              <a:t>Received 5 years of funding for extra training based on 2024 results</a:t>
            </a:r>
            <a:endParaRPr lang="en-GB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Survey link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600" dirty="0">
                <a:hlinkClick r:id="rId3"/>
              </a:rPr>
              <a:t>https://app.onlinesurveys.jisc.ac.uk/s/bham/2026-it-needs-of-active-research</a:t>
            </a:r>
            <a:r>
              <a:rPr lang="en-GB" sz="16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6DBA7F14-E730-26A9-97F8-8BB8A20B6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6366" y="1080871"/>
            <a:ext cx="3706836" cy="3706836"/>
          </a:xfrm>
          <a:prstGeom prst="rect">
            <a:avLst/>
          </a:prstGeom>
        </p:spPr>
      </p:pic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F15C397-8423-6956-2F43-5D393BE0AE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6366" y="4753708"/>
            <a:ext cx="3706836" cy="208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8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95ABF-8D69-14A7-2080-3A2022EDE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ill Sans MT" panose="020B0502020104020203" pitchFamily="34" charset="0"/>
              </a:rPr>
              <a:t>Selenium ‘find’ instructions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4E4CDF-25B1-E105-ED5B-AEA6DE493792}"/>
              </a:ext>
            </a:extLst>
          </p:cNvPr>
          <p:cNvSpPr txBox="1"/>
          <p:nvPr/>
        </p:nvSpPr>
        <p:spPr>
          <a:xfrm>
            <a:off x="908957" y="1690688"/>
            <a:ext cx="1107621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Gill Sans MT" panose="020B0502020104020203" pitchFamily="34" charset="0"/>
              </a:rPr>
              <a:t>.</a:t>
            </a:r>
            <a:r>
              <a:rPr lang="en-GB" sz="3200" dirty="0" err="1">
                <a:latin typeface="Gill Sans MT" panose="020B0502020104020203" pitchFamily="34" charset="0"/>
              </a:rPr>
              <a:t>find_element</a:t>
            </a:r>
            <a:r>
              <a:rPr lang="en-GB" sz="3200" dirty="0">
                <a:latin typeface="Gill Sans MT" panose="020B0502020104020203" pitchFamily="34" charset="0"/>
              </a:rPr>
              <a:t>()  - finds first matching element</a:t>
            </a:r>
          </a:p>
          <a:p>
            <a:endParaRPr lang="en-GB" sz="2400" dirty="0">
              <a:latin typeface="Gill Sans MT" panose="020B05020201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Gill Sans MT" panose="020B0502020104020203" pitchFamily="34" charset="0"/>
              </a:rPr>
              <a:t> To select first &lt;table&gt; element:</a:t>
            </a:r>
          </a:p>
          <a:p>
            <a:endParaRPr lang="en-GB" sz="2400" dirty="0">
              <a:latin typeface="Gill Sans MT" panose="020B0502020104020203" pitchFamily="34" charset="0"/>
            </a:endParaRPr>
          </a:p>
          <a:p>
            <a:r>
              <a:rPr lang="en-GB" sz="2400" dirty="0">
                <a:latin typeface="Gill Sans MT" panose="020B0502020104020203" pitchFamily="34" charset="0"/>
              </a:rPr>
              <a:t>		</a:t>
            </a:r>
            <a:r>
              <a:rPr lang="en-GB" sz="2400" dirty="0" err="1">
                <a:latin typeface="Consolas" panose="020B0609020204030204" pitchFamily="49" charset="0"/>
              </a:rPr>
              <a:t>driver.find_element</a:t>
            </a:r>
            <a:r>
              <a:rPr lang="en-GB" sz="2400" dirty="0">
                <a:latin typeface="Consolas" panose="020B0609020204030204" pitchFamily="49" charset="0"/>
              </a:rPr>
              <a:t>(by=</a:t>
            </a:r>
            <a:r>
              <a:rPr lang="en-GB" sz="2400" dirty="0" err="1">
                <a:latin typeface="Consolas" panose="020B0609020204030204" pitchFamily="49" charset="0"/>
              </a:rPr>
              <a:t>By.TAG_NAME</a:t>
            </a:r>
            <a:r>
              <a:rPr lang="en-GB" sz="2400" dirty="0">
                <a:latin typeface="Consolas" panose="020B0609020204030204" pitchFamily="49" charset="0"/>
              </a:rPr>
              <a:t>, value=“table”) </a:t>
            </a:r>
          </a:p>
          <a:p>
            <a:endParaRPr lang="en-GB" sz="2400" dirty="0">
              <a:latin typeface="Consolas" panose="020B06090202040302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Gill Sans MT" panose="020B0502020104020203" pitchFamily="34" charset="0"/>
              </a:rPr>
              <a:t> To find a row with &lt;tr class=“film”&gt;:</a:t>
            </a:r>
          </a:p>
          <a:p>
            <a:endParaRPr lang="en-GB" sz="2400" dirty="0">
              <a:latin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</a:rPr>
              <a:t>		</a:t>
            </a:r>
            <a:r>
              <a:rPr lang="en-GB" sz="2400" dirty="0" err="1">
                <a:latin typeface="Consolas" panose="020B0609020204030204" pitchFamily="49" charset="0"/>
              </a:rPr>
              <a:t>driver.find_element</a:t>
            </a:r>
            <a:r>
              <a:rPr lang="en-GB" sz="2400" dirty="0">
                <a:latin typeface="Consolas" panose="020B0609020204030204" pitchFamily="49" charset="0"/>
              </a:rPr>
              <a:t>(by=</a:t>
            </a:r>
            <a:r>
              <a:rPr lang="en-GB" sz="2400" dirty="0" err="1">
                <a:latin typeface="Consolas" panose="020B0609020204030204" pitchFamily="49" charset="0"/>
              </a:rPr>
              <a:t>By.CLASS_NAME</a:t>
            </a:r>
            <a:r>
              <a:rPr lang="en-GB" sz="2400" dirty="0">
                <a:latin typeface="Consolas" panose="020B0609020204030204" pitchFamily="49" charset="0"/>
              </a:rPr>
              <a:t>, value=“film”)</a:t>
            </a:r>
          </a:p>
          <a:p>
            <a:endParaRPr lang="en-GB" sz="2400" dirty="0">
              <a:latin typeface="Gill Sans MT" panose="020B0502020104020203" pitchFamily="34" charset="0"/>
            </a:endParaRPr>
          </a:p>
          <a:p>
            <a:r>
              <a:rPr lang="en-GB" sz="3200" dirty="0">
                <a:latin typeface="Gill Sans MT" panose="020B0502020104020203" pitchFamily="34" charset="0"/>
              </a:rPr>
              <a:t>.</a:t>
            </a:r>
            <a:r>
              <a:rPr lang="en-GB" sz="3200" dirty="0" err="1">
                <a:latin typeface="Gill Sans MT" panose="020B0502020104020203" pitchFamily="34" charset="0"/>
              </a:rPr>
              <a:t>find_elements</a:t>
            </a:r>
            <a:r>
              <a:rPr lang="en-GB" sz="3200" dirty="0">
                <a:latin typeface="Gill Sans MT" panose="020B0502020104020203" pitchFamily="34" charset="0"/>
              </a:rPr>
              <a:t>() – finds all matching elements</a:t>
            </a:r>
          </a:p>
        </p:txBody>
      </p:sp>
    </p:spTree>
    <p:extLst>
      <p:ext uri="{BB962C8B-B14F-4D97-AF65-F5344CB8AC3E}">
        <p14:creationId xmlns:p14="http://schemas.microsoft.com/office/powerpoint/2010/main" val="855065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15AE-8218-291C-031F-64E07877F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Scraping 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2FDF51-6413-5F9D-52B1-98D0A167CFE3}"/>
              </a:ext>
            </a:extLst>
          </p:cNvPr>
          <p:cNvSpPr txBox="1"/>
          <p:nvPr/>
        </p:nvSpPr>
        <p:spPr>
          <a:xfrm>
            <a:off x="978408" y="1874520"/>
            <a:ext cx="98298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sz="2400" dirty="0">
                <a:latin typeface="Gill Sans MT" panose="020B0502020104020203" pitchFamily="34" charset="0"/>
              </a:rPr>
              <a:t>Understand the structure of the website</a:t>
            </a:r>
          </a:p>
          <a:p>
            <a:pPr marL="342900" indent="-342900">
              <a:buAutoNum type="arabicPeriod"/>
            </a:pPr>
            <a:endParaRPr lang="en-GB" sz="2400" dirty="0">
              <a:latin typeface="Gill Sans MT" panose="020B0502020104020203" pitchFamily="34" charset="0"/>
            </a:endParaRPr>
          </a:p>
          <a:p>
            <a:pPr marL="342900" indent="-342900">
              <a:buAutoNum type="arabicPeriod"/>
            </a:pPr>
            <a:r>
              <a:rPr lang="en-GB" sz="2400" dirty="0">
                <a:latin typeface="Gill Sans MT" panose="020B0502020104020203" pitchFamily="34" charset="0"/>
              </a:rPr>
              <a:t>Determine whether the content is static or dynamic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Gill Sans MT" panose="020B0502020104020203" pitchFamily="34" charset="0"/>
              </a:rPr>
              <a:t>Static content can be accessed directly using the ‘requests’ library and parsed using </a:t>
            </a:r>
            <a:r>
              <a:rPr lang="en-GB" sz="2400" dirty="0" err="1">
                <a:latin typeface="Gill Sans MT" panose="020B0502020104020203" pitchFamily="34" charset="0"/>
              </a:rPr>
              <a:t>BeautifulSoup</a:t>
            </a:r>
            <a:endParaRPr lang="en-GB" sz="2400" dirty="0">
              <a:latin typeface="Gill Sans MT" panose="020B05020201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Gill Sans MT" panose="020B0502020104020203" pitchFamily="34" charset="0"/>
              </a:rPr>
              <a:t>Dynamic content is loaded or updated by JavaScript and typically requires Selenium to render the page before parsing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400" dirty="0">
              <a:latin typeface="Gill Sans MT" panose="020B0502020104020203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2400" dirty="0">
                <a:latin typeface="Gill Sans MT" panose="020B0502020104020203" pitchFamily="34" charset="0"/>
              </a:rPr>
              <a:t>Build your scraping pipeline</a:t>
            </a:r>
          </a:p>
          <a:p>
            <a:pPr marL="342900" indent="-342900">
              <a:buFont typeface="+mj-lt"/>
              <a:buAutoNum type="arabicPeriod"/>
            </a:pPr>
            <a:endParaRPr lang="en-GB" sz="2400" dirty="0">
              <a:latin typeface="Gill Sans MT" panose="020B0502020104020203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2400" dirty="0">
                <a:latin typeface="Gill Sans MT" panose="020B0502020104020203" pitchFamily="34" charset="0"/>
              </a:rPr>
              <a:t>Clean, format and store the data in a structured format. Pandas </a:t>
            </a:r>
            <a:r>
              <a:rPr lang="en-GB" sz="2400" dirty="0" err="1">
                <a:latin typeface="Gill Sans MT" panose="020B0502020104020203" pitchFamily="34" charset="0"/>
              </a:rPr>
              <a:t>DataFrames</a:t>
            </a:r>
            <a:r>
              <a:rPr lang="en-GB" sz="2400" dirty="0">
                <a:latin typeface="Gill Sans MT" panose="020B0502020104020203" pitchFamily="34" charset="0"/>
              </a:rPr>
              <a:t> may be used</a:t>
            </a:r>
          </a:p>
          <a:p>
            <a:pPr marL="342900" indent="-342900"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8827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965EE-9C4A-AB47-3B1A-4DEAC42DA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7603"/>
          </a:xfrm>
        </p:spPr>
        <p:txBody>
          <a:bodyPr/>
          <a:lstStyle/>
          <a:p>
            <a:r>
              <a:rPr lang="en-GB" dirty="0"/>
              <a:t>Cascading Style Sheet (CSS) Code </a:t>
            </a:r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E06D451-73A2-F435-E8E0-0B96AAFF0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357" y="1576007"/>
            <a:ext cx="4441285" cy="477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166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1101</TotalTime>
  <Words>699</Words>
  <Application>Microsoft Office PowerPoint</Application>
  <PresentationFormat>Widescreen</PresentationFormat>
  <Paragraphs>75</Paragraphs>
  <Slides>11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Consolas</vt:lpstr>
      <vt:lpstr>Gill Sans MT</vt:lpstr>
      <vt:lpstr>Gill Sans Nova</vt:lpstr>
      <vt:lpstr>Mulish</vt:lpstr>
      <vt:lpstr>Office Theme</vt:lpstr>
      <vt:lpstr>Welcome to Web Scraping with Python!</vt:lpstr>
      <vt:lpstr>PowerPoint Presentation</vt:lpstr>
      <vt:lpstr>Web scraping might not be necessary</vt:lpstr>
      <vt:lpstr>PowerPoint Presentation</vt:lpstr>
      <vt:lpstr>html  Tree Format</vt:lpstr>
      <vt:lpstr>html tags</vt:lpstr>
      <vt:lpstr>Please take a couple of minutes to fill in the feedback form</vt:lpstr>
      <vt:lpstr>2026 IT Needs of Active Research Survey</vt:lpstr>
      <vt:lpstr>Selenium ‘find’ instructions</vt:lpstr>
      <vt:lpstr>The Scraping Pipeline</vt:lpstr>
      <vt:lpstr>Cascading Style Sheet (CSS) Code </vt:lpstr>
    </vt:vector>
  </TitlesOfParts>
  <Company>University of Birmingham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Louise Brown (Advanced Research Computing)</dc:creator>
  <cp:lastModifiedBy>Louise Brown (Advanced Research Computing)</cp:lastModifiedBy>
  <cp:revision>8</cp:revision>
  <dcterms:created xsi:type="dcterms:W3CDTF">2026-01-22T08:58:37Z</dcterms:created>
  <dcterms:modified xsi:type="dcterms:W3CDTF">2026-07-13T17:00:45Z</dcterms:modified>
</cp:coreProperties>
</file>